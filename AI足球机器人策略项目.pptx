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2147" autoAdjust="0"/>
  </p:normalViewPr>
  <p:slideViewPr>
    <p:cSldViewPr snapToGrid="0">
      <p:cViewPr varScale="1">
        <p:scale>
          <a:sx n="81" d="100"/>
          <a:sy n="81" d="100"/>
        </p:scale>
        <p:origin x="1164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jpe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7.svg"/><Relationship Id="rId3" Type="http://schemas.openxmlformats.org/officeDocument/2006/relationships/image" Target="../media/image2.jpeg"/><Relationship Id="rId7" Type="http://schemas.openxmlformats.org/officeDocument/2006/relationships/image" Target="../media/image21.sv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5" Type="http://schemas.openxmlformats.org/officeDocument/2006/relationships/image" Target="../media/image27.sv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38.svg"/><Relationship Id="rId3" Type="http://schemas.openxmlformats.org/officeDocument/2006/relationships/image" Target="../media/image2.jpeg"/><Relationship Id="rId7" Type="http://schemas.openxmlformats.org/officeDocument/2006/relationships/image" Target="../media/image34.sv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11" Type="http://schemas.openxmlformats.org/officeDocument/2006/relationships/image" Target="../media/image36.svg"/><Relationship Id="rId5" Type="http://schemas.openxmlformats.org/officeDocument/2006/relationships/image" Target="../media/image32.svg"/><Relationship Id="rId10" Type="http://schemas.openxmlformats.org/officeDocument/2006/relationships/image" Target="../media/image35.png"/><Relationship Id="rId4" Type="http://schemas.openxmlformats.org/officeDocument/2006/relationships/image" Target="../media/image31.png"/><Relationship Id="rId9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2.jpe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5.jpeg"/><Relationship Id="rId4" Type="http://schemas.openxmlformats.org/officeDocument/2006/relationships/image" Target="../media/image4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48.svg"/><Relationship Id="rId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50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.png"/><Relationship Id="rId5" Type="http://schemas.openxmlformats.org/officeDocument/2006/relationships/image" Target="../media/image48.svg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19.svg"/><Relationship Id="rId3" Type="http://schemas.openxmlformats.org/officeDocument/2006/relationships/image" Target="../media/image2.jpeg"/><Relationship Id="rId7" Type="http://schemas.openxmlformats.org/officeDocument/2006/relationships/image" Target="../media/image23.sv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11" Type="http://schemas.openxmlformats.org/officeDocument/2006/relationships/image" Target="../media/image25.svg"/><Relationship Id="rId5" Type="http://schemas.openxmlformats.org/officeDocument/2006/relationships/image" Target="../media/image52.svg"/><Relationship Id="rId10" Type="http://schemas.openxmlformats.org/officeDocument/2006/relationships/image" Target="../media/image24.png"/><Relationship Id="rId4" Type="http://schemas.openxmlformats.org/officeDocument/2006/relationships/image" Target="../media/image51.png"/><Relationship Id="rId9" Type="http://schemas.openxmlformats.org/officeDocument/2006/relationships/image" Target="../media/image5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5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2.jpe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image" Target="../media/image5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31668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41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AI足球机器人策略项目汇报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3503550"/>
            <a:ext cx="76200" cy="3556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219200" y="1775361"/>
            <a:ext cx="9906000" cy="381197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LALTOP1 </a:t>
            </a:r>
            <a:r>
              <a:rPr lang="en-US" sz="2400" b="1" i="0" u="none" strike="noStrike" dirty="0" err="1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策略系统深度解析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1778000" y="5524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6858000" y="5524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4D399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68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905000" y="20574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项目概述与系统架构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8575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梳理项目研发背景与核心建设目标，拆解系统整体技术架构，解析感知、决策、控制等核心功能模块的交互逻辑与协同机制。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77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4D399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477000" y="1968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366000" y="20574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核心算法深度解析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291">
            <a:off x="64770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477000" y="28575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深度解析运动控制层的PID参数整定与抗干扰优化方案，以及决策层基于多传感器融合的动态路径预测与智能避障模型原理。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1275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4D399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16000" y="4318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905000" y="44069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核心策略逻辑剖析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291">
            <a:off x="1016009" y="507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1016000" y="52070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剖析常规比赛中的攻防转换策略与资源调度逻辑，详解针对复杂对抗、极端环境等特殊场景的自适应应变与动态博弈机制。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41275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4D399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477000" y="4318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366000" y="44069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项目亮点与未来展望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291">
            <a:off x="6477009" y="507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477000" y="52070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总结项目在算法精度、系统稳定性与实战表现上的核心创新与优势，展望算法迭代、多机协同及复杂场景拓展的未来优化方向。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项目概述与系统架构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26" b="26"/>
          <a:stretch>
            <a:fillRect/>
          </a:stretch>
        </p:blipFill>
        <p:spPr>
          <a:xfrm>
            <a:off x="762000" y="1651000"/>
            <a:ext cx="4318000" cy="2667000"/>
          </a:xfrm>
          <a:prstGeom prst="rect">
            <a:avLst/>
          </a:prstGeom>
          <a:noFill/>
          <a:ln w="25400" cap="flat" cmpd="sng">
            <a:solidFill>
              <a:srgbClr val="34D399">
                <a:alpha val="5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5461000" y="1651000"/>
            <a:ext cx="609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LALTOP1 AI足球机器人策略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461000" y="2349500"/>
            <a:ext cx="609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Python构建的全自主足球机器人决策系统，专为5人制仿真机器人足球赛设计。系统实时解析赛场动态数据，融合博弈论与运动控制算法，自主驱动机器人完成跑位、传球、射门及防守等复杂动作，实现无人干预的智能化赛场对抗，旨在打造高胜率的AI竞技方案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826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5016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33500" y="5016500"/>
            <a:ext cx="2730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全自主智能决策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5461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无需人工介入，机器人依托实时环境感知与动态博弈算法，独立完成局势判断与战术动作生成，实现真正的智能化赛场应变。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4826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0" y="5016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953000" y="5016500"/>
            <a:ext cx="2730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竞技性能持续进阶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72000" y="5461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通过算法迭代与策略库优化，不断提升球队的攻防转换效率、团队配合默契度及战术执行精度，在仿真联赛中稳步提升胜率。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01000" y="4826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91500" y="5016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572500" y="5016500"/>
            <a:ext cx="2730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模块化可扩展框架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91500" y="5461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采用解耦式架构设计，感知、决策、控制模块独立运行，支持灵活集成强化学习、深度学习等前沿AI技术，适配未来功能升级。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项目概述与系统架构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5080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模块化解耦设计，实现策略、控制与通信的高效协同，构建稳定可靠的AI足球系统底座。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461000" y="1905000"/>
            <a:ext cx="3111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1500" y="2095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032500" y="20701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V5RPC · 通信中枢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651500" y="2540000"/>
            <a:ext cx="2730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定义数据模型与通信协议，充当策略层与仿真环境的“翻译官”，确保指令下发与状态回传的低延迟、高精准交互。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699500" y="1905000"/>
            <a:ext cx="3111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90000" y="2095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9271000" y="20701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Global · 配置核心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890000" y="2540000"/>
            <a:ext cx="2730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全局参数配置中心，集中管理赛事规则、物理常量、机器人属性及环境阈值，实现系统参数的灵活调控与快速适配。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461000" y="4064000"/>
            <a:ext cx="3111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1500" y="4254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032500" y="42291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baseRobot · 运动基座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651500" y="4699000"/>
            <a:ext cx="2730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封装单机器人的底层运动控制逻辑，提供标准化的动作执行接口，实现底盘移动、角度调整与射门等基础行为。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699500" y="4064000"/>
            <a:ext cx="3111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90000" y="4254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271000" y="42291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v5strategy · 决策大脑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890000" y="4699000"/>
            <a:ext cx="2730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系统的核心决策层，基于实时赛场态势进行态势感知与博弈分析，动态生成战术指令，输出最优的比赛策略。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项目概述与系统架构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2545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12700" cap="flat" cmpd="sng">
            <a:solidFill>
              <a:srgbClr val="34D399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2032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01 / V5RPC.py · 数据通信核心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046">
            <a:off x="952508" y="2660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952500" y="28194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作为连接策略算法与仿真环境的“翻译官”，它定义了全系统的数据结构规范与通信接口，为上层策略提供标准化、高可用的数据访问能力。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7084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▍核心数据实体定义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4191000"/>
            <a:ext cx="2349500" cy="6604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16000" y="4241800"/>
            <a:ext cx="2222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Vector2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基础二维坐标单元 (x, y)，构建所有位置数据的基石。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429000" y="4191000"/>
            <a:ext cx="2349500" cy="6604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3492500" y="4241800"/>
            <a:ext cx="2222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Robot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封装机器人全量状态：位置、朝向角度及四轮速度。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52500" y="5029200"/>
            <a:ext cx="2349500" cy="6604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016000" y="5080000"/>
            <a:ext cx="2222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Ball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实时同步球体的物理位置与运动轨迹信息。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429000" y="5029200"/>
            <a:ext cx="2349500" cy="6604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3492500" y="5080000"/>
            <a:ext cx="2222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Field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全局赛场状态快照，包含场上所有智能体的实时数据。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1778000"/>
            <a:ext cx="5207000" cy="42545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12700" cap="flat" cmpd="sng">
            <a:solidFill>
              <a:srgbClr val="34D399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413500" y="2032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02 / GlobalVariable.py · 全局配置中枢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9046">
            <a:off x="6413508" y="2660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413500" y="28194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系统的“控制面板”，集中管理全局常量、运行参数与环境配置，确保参数的统一维护与灵活调优，提升系统可维护性。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13500" y="37084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▍关键运行参数解析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13500" y="4191000"/>
            <a:ext cx="4826000" cy="6096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540500" y="4241800"/>
            <a:ext cx="4699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tick (系统时钟)：</a:t>
            </a: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记录当前比赛进程的时间戳，是驱动策略逻辑与仿真环境同步更新的核心节拍器。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13500" y="4851400"/>
            <a:ext cx="4826000" cy="609600"/>
          </a:xfrm>
          <a:prstGeom prst="roundRect">
            <a:avLst>
              <a:gd name="adj" fmla="val 0"/>
            </a:avLst>
          </a:prstGeom>
          <a:solidFill>
            <a:srgbClr val="34D399">
              <a:alpha val="18000"/>
            </a:srgbClr>
          </a:solidFill>
          <a:ln w="12700" cap="flat" cmpd="sng">
            <a:solidFill>
              <a:srgbClr val="34D399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540500" y="4902200"/>
            <a:ext cx="4699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tick_delay = 4 (核心预测补偿)：</a:t>
            </a: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针对系统物理延迟进行补偿，强制策略算法必须“预判”未来4个时间单位的状态，实现具有前瞻性的决策输出。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13500" y="5511800"/>
            <a:ext cx="4826000" cy="6096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540500" y="5562600"/>
            <a:ext cx="4699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战术锚点 (如 goalkepper_X)：</a:t>
            </a: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预设关键位置的常量坐标，如守门员站位基准，为战术逻辑提供固定的参考系。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项目概述与系统架构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01 / baseRobot.py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476500"/>
            <a:ext cx="469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基础机器人与运动控制的底层基石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851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111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3073400"/>
            <a:ext cx="4254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增量式PID闭环控制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实现精准的移动与转向调节，为机器人运动提供稳定的底层驱动，是轨迹追踪与姿态控制的核心保障。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000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3962400"/>
            <a:ext cx="4254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原子化运动接口封装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提供 moveto()、turntoangle()、shoot() 等核心函数，上层策略无需关注电机细节，实现逻辑解耦。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953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460500" y="4914900"/>
            <a:ext cx="4254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前瞻式状态预测 (项目亮点)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 PredictRobotInformation 预测未来N个Tick的位姿，有效补偿系统延迟，大幅提升动态决策的命中率。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1778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477000" y="2032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02 / v5strategy.py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7000" y="2476500"/>
            <a:ext cx="469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赛事决策的“中央大脑”与策略中枢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291">
            <a:off x="6477009" y="2851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3111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21500" y="3073400"/>
            <a:ext cx="4254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标准化决策接口体系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定义 get_team_info()、on_event()、get_instruction() 等四大核心接口，构建从感知到指令的标准化流转通道。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7000" y="4000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21500" y="3962400"/>
            <a:ext cx="4254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全场景策略覆盖库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包含常规攻防、点球大战、门球战术等细分场景逻辑，针对不同赛场局势自动切换最优战术模式。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77000" y="49530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921500" y="4914900"/>
            <a:ext cx="4254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感知-决策-行动闭环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实时处理视觉与传感数据，动态生成战术指令并下发执行，形成毫秒级的高速决策闭环，抢占赛场先机。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核心算法深度解析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运动控制核心：PID控制器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项目采用经典的PID控制器作为机器人运动控制的核心算法，通过比例(P)、积分(I)、微分(D)的动态调节，精准计算控制增量以调整轮速差，确保机器人移动的平滑性与定位准确性。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l="1298" r="1298"/>
          <a:stretch>
            <a:fillRect/>
          </a:stretch>
        </p:blipFill>
        <p:spPr>
          <a:xfrm>
            <a:off x="762000" y="2921000"/>
            <a:ext cx="4826000" cy="190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62000" y="5080000"/>
            <a:ext cx="4826000" cy="11430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89000" y="5207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原理简析：</a:t>
            </a: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通过反馈机制持续计算当前状态与目标值的偏差，利用比例、积分、微分环节的加权组合，实时输出控制量，快速消除偏差并抑制震荡，保证系统响应速度与稳定性。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969000" y="2921000"/>
            <a:ext cx="5461000" cy="2159000"/>
          </a:xfrm>
          <a:prstGeom prst="roundRect">
            <a:avLst>
              <a:gd name="adj" fmla="val 0"/>
            </a:avLst>
          </a:prstGeom>
          <a:solidFill>
            <a:srgbClr val="111827">
              <a:alpha val="60000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096000" y="3048000"/>
            <a:ext cx="520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▍增量式PID核心实现 (Python)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096000" y="3365500"/>
            <a:ext cx="5207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90196"/>
                  </a:srgbClr>
                </a:solidFill>
                <a:latin typeface="Consolas"/>
                <a:ea typeface="Consolas"/>
                <a:cs typeface="Consolas"/>
                <a:sym typeface="Consolas"/>
              </a:rPr>
              <a:t>def pid_calculate(self, current_error):</a:t>
            </a:r>
            <a:br>
              <a:rPr lang="en-US" sz="1200" b="0" i="0" u="none" strike="noStrike">
                <a:solidFill>
                  <a:srgbClr val="E5E7EB">
                    <a:alpha val="90196"/>
                  </a:srgbClr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 b="0" i="0" u="none" strike="noStrike">
                <a:solidFill>
                  <a:srgbClr val="E5E7EB">
                    <a:alpha val="90196"/>
                  </a:srgbClr>
                </a:solidFill>
                <a:latin typeface="Consolas"/>
                <a:ea typeface="Consolas"/>
                <a:cs typeface="Consolas"/>
                <a:sym typeface="Consolas"/>
              </a:rPr>
              <a:t># 增量式算法核心逻辑</a:t>
            </a:r>
            <a:br>
              <a:rPr lang="en-US" sz="1200" b="0" i="0" u="none" strike="noStrike">
                <a:solidFill>
                  <a:srgbClr val="E5E7EB">
                    <a:alpha val="90196"/>
                  </a:srgbClr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 b="0" i="0" u="none" strike="noStrike">
                <a:solidFill>
                  <a:srgbClr val="E5E7EB">
                    <a:alpha val="90196"/>
                  </a:srgbClr>
                </a:solidFill>
                <a:latin typeface="Consolas"/>
                <a:ea typeface="Consolas"/>
                <a:cs typeface="Consolas"/>
                <a:sym typeface="Consolas"/>
              </a:rPr>
              <a:t>delta_u = self.Kp * (current_error - self.last_error) \\\</a:t>
            </a:r>
            <a:br>
              <a:rPr lang="en-US" sz="1200" b="0" i="0" u="none" strike="noStrike">
                <a:solidFill>
                  <a:srgbClr val="E5E7EB">
                    <a:alpha val="90196"/>
                  </a:srgbClr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 b="0" i="0" u="none" strike="noStrike">
                <a:solidFill>
                  <a:srgbClr val="E5E7EB">
                    <a:alpha val="90196"/>
                  </a:srgbClr>
                </a:solidFill>
                <a:latin typeface="Consolas"/>
                <a:ea typeface="Consolas"/>
                <a:cs typeface="Consolas"/>
                <a:sym typeface="Consolas"/>
              </a:rPr>
              <a:t>+ self.Ki * current_error \\\</a:t>
            </a:r>
            <a:br>
              <a:rPr lang="en-US" sz="1200" b="0" i="0" u="none" strike="noStrike">
                <a:solidFill>
                  <a:srgbClr val="E5E7EB">
                    <a:alpha val="90196"/>
                  </a:srgbClr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 b="0" i="0" u="none" strike="noStrike">
                <a:solidFill>
                  <a:srgbClr val="E5E7EB">
                    <a:alpha val="90196"/>
                  </a:srgbClr>
                </a:solidFill>
                <a:latin typeface="Consolas"/>
                <a:ea typeface="Consolas"/>
                <a:cs typeface="Consolas"/>
                <a:sym typeface="Consolas"/>
              </a:rPr>
              <a:t>+ self.Kd * (current_error - 2*self.last_error + self.prev_error)</a:t>
            </a:r>
            <a:br>
              <a:rPr lang="en-US" sz="1200" b="0" i="0" u="none" strike="noStrike">
                <a:solidFill>
                  <a:srgbClr val="E5E7EB">
                    <a:alpha val="90196"/>
                  </a:srgbClr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 b="0" i="0" u="none" strike="noStrike">
                <a:solidFill>
                  <a:srgbClr val="E5E7EB">
                    <a:alpha val="90196"/>
                  </a:srgbClr>
                </a:solidFill>
                <a:latin typeface="Consolas"/>
                <a:ea typeface="Consolas"/>
                <a:cs typeface="Consolas"/>
                <a:sym typeface="Consolas"/>
              </a:rPr>
              <a:t># 更新误差历史</a:t>
            </a:r>
            <a:br>
              <a:rPr lang="en-US" sz="1200" b="0" i="0" u="none" strike="noStrike">
                <a:solidFill>
                  <a:srgbClr val="E5E7EB">
                    <a:alpha val="90196"/>
                  </a:srgbClr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 b="0" i="0" u="none" strike="noStrike">
                <a:solidFill>
                  <a:srgbClr val="E5E7EB">
                    <a:alpha val="90196"/>
                  </a:srgbClr>
                </a:solidFill>
                <a:latin typeface="Consolas"/>
                <a:ea typeface="Consolas"/>
                <a:cs typeface="Consolas"/>
                <a:sym typeface="Consolas"/>
              </a:rPr>
              <a:t>self.prev_error, self.last_error = self.last_error, current_error</a:t>
            </a:r>
            <a:br>
              <a:rPr lang="en-US" sz="1200" b="0" i="0" u="none" strike="noStrike">
                <a:solidFill>
                  <a:srgbClr val="E5E7EB">
                    <a:alpha val="90196"/>
                  </a:srgbClr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 b="0" i="0" u="none" strike="noStrike">
                <a:solidFill>
                  <a:srgbClr val="E5E7EB">
                    <a:alpha val="90196"/>
                  </a:srgbClr>
                </a:solidFill>
                <a:latin typeface="Consolas"/>
                <a:ea typeface="Consolas"/>
                <a:cs typeface="Consolas"/>
                <a:sym typeface="Consolas"/>
              </a:rPr>
              <a:t>return self.last_output + delta_u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969000" y="5080000"/>
            <a:ext cx="5461000" cy="11430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59500" y="5270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540500" y="5207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实战应用：</a:t>
            </a: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深度集成于 `move_to` (定点移动) 与 `turn_to` (角度转向) 核心函数，有效消除路径追踪与姿态调整中的稳态误差，实现毫米级控制精度，保障机器人在复杂地形下的运动表现。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核心算法深度解析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moveto 函数逻辑剖析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12700" cap="flat" cmpd="sng">
            <a:solidFill>
              <a:srgbClr val="34D399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5273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22860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01. 计算目标角度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基于预测位置与目标坐标，通过反正切函数解算出绝对目标方向角 angle_to，确立移动的基础航向。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2159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12700" cap="flat" cmpd="sng">
            <a:solidFill>
              <a:srgbClr val="34D399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5273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048500" y="22860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02. 计算角度偏差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求取当前朝向与目标角度的差值 angle_diff，并将其归一化至 [-180°, 180°] 区间，消除转向死区误差。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4925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12700" cap="flat" cmpd="sng">
            <a:solidFill>
              <a:srgbClr val="34D399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38608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87500" y="36195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03. PID 闭环校正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将角度偏差作为输入，通过 PID 控制器动态计算轮速修正量 delta_v，实现无超调的精准转向控制。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34925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12700" cap="flat" cmpd="sng">
            <a:solidFill>
              <a:srgbClr val="34D399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38608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048500" y="36195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04. 差动轮速分配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根据修正量动态调整：左轮 = 基准速 - delta_v，右轮 = 基准速 + delta_v，完成实时轨迹跟踪。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953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34D399">
              <a:alpha val="12000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6000" y="5143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460500" y="51054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FBBF2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核心技巧：预测式延迟补偿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解算时使用</a:t>
            </a:r>
            <a:r>
              <a:rPr lang="en-US" sz="1300" b="0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预测后的未来位置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而非实时位置，这一设计巧妙抵消了传感器与执行器的系统延迟，是实现毫秒级响应与路径零偏差的关键。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4953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111827">
              <a:alpha val="7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350000" y="50546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9CA3A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核心代码片段：基于预测位置的解算</a:t>
            </a:r>
            <a:br>
              <a:rPr lang="en-US" sz="1200" b="0" i="0" u="none" strike="noStrike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200" b="0" i="0" u="none" strike="noStrike">
                <a:solidFill>
                  <a:srgbClr val="F8717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dx</a:t>
            </a:r>
            <a:r>
              <a:rPr lang="en-US" sz="1200" b="0" i="0" u="none" strike="noStrike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= tar_x - pred_pos.x</a:t>
            </a:r>
            <a:r>
              <a:rPr lang="en-US" sz="1200" b="0" i="0" u="none" strike="noStrike">
                <a:solidFill>
                  <a:srgbClr val="6B728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预测位置差</a:t>
            </a:r>
            <a:br>
              <a:rPr lang="en-US" sz="1200" b="0" i="0" u="none" strike="noStrike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200" b="0" i="0" u="none" strike="noStrike">
                <a:solidFill>
                  <a:srgbClr val="F8717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dy</a:t>
            </a:r>
            <a:r>
              <a:rPr lang="en-US" sz="1200" b="0" i="0" u="none" strike="noStrike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= tar_y - pred_pos.y</a:t>
            </a:r>
            <a:br>
              <a:rPr lang="en-US" sz="1200" b="0" i="0" u="none" strike="noStrike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200" b="0" i="0" u="none" strike="noStrike">
                <a:solidFill>
                  <a:srgbClr val="F8717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angle</a:t>
            </a:r>
            <a:r>
              <a:rPr lang="en-US" sz="1200" b="0" i="0" u="none" strike="noStrike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= atan2(dy, dx) * RAD2DEG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核心算法深度解析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前瞻性决策核心：动态预测模型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l="151" r="151"/>
          <a:stretch>
            <a:fillRect/>
          </a:stretch>
        </p:blipFill>
        <p:spPr>
          <a:xfrm>
            <a:off x="762000" y="2286000"/>
            <a:ext cx="4318000" cy="2438400"/>
          </a:xfrm>
          <a:prstGeom prst="rect">
            <a:avLst/>
          </a:prstGeom>
          <a:noFill/>
          <a:ln w="25400" cap="flat" cmpd="sng">
            <a:solidFill>
              <a:srgbClr val="34D399">
                <a:alpha val="50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62000" y="4953000"/>
            <a:ext cx="431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该模型通过分析机器人历史运动数据，结合一阶惯性模型推算未来状态，赋予了机器人“预判”能力，是实现精准战术执行的关键技术底座。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461000" y="2286000"/>
            <a:ext cx="596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01 / 模型推演：三步闭环机制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461000" y="2819400"/>
            <a:ext cx="5969000" cy="5715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588000" y="2882900"/>
            <a:ext cx="5778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状态锚定：</a:t>
            </a: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以当前帧的位置、速度为起点，建立预测序列的时间基准。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461000" y="3479800"/>
            <a:ext cx="5969000" cy="5715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5588000" y="3543300"/>
            <a:ext cx="5778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惯性迭代：</a:t>
            </a: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基于运动学模型，逐帧计算未来N个tick的线速度、角速度及位姿。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461000" y="4140200"/>
            <a:ext cx="5969000" cy="5715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5588000" y="4203700"/>
            <a:ext cx="5778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数据输出：</a:t>
            </a: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生成预测轨迹数组，为路径规划与动作决策提供前瞻性数据支撑。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461000" y="5016500"/>
            <a:ext cx="2895600" cy="1333500"/>
          </a:xfrm>
          <a:prstGeom prst="roundRect">
            <a:avLst>
              <a:gd name="adj" fmla="val 0"/>
            </a:avLst>
          </a:prstGeom>
          <a:solidFill>
            <a:srgbClr val="34D399">
              <a:alpha val="12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13400" y="51689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994400" y="51689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补偿系统延迟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613400" y="5588000"/>
            <a:ext cx="2590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抵消仿真与策略执行的时间差，让机器人动作响应“零延迟”，决策更精准。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534400" y="5016500"/>
            <a:ext cx="2895600" cy="1333500"/>
          </a:xfrm>
          <a:prstGeom prst="roundRect">
            <a:avLst>
              <a:gd name="adj" fmla="val 0"/>
            </a:avLst>
          </a:prstGeom>
          <a:solidFill>
            <a:srgbClr val="34D399">
              <a:alpha val="12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86800" y="51689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067800" y="51689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强化战术对抗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686800" y="5588000"/>
            <a:ext cx="2590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提前预判球路与对手动向，实现精准卡位、拦截，构建攻防战术优势。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核心策略逻辑剖析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4666" b="4666"/>
          <a:stretch>
            <a:fillRect/>
          </a:stretch>
        </p:blipFill>
        <p:spPr>
          <a:xfrm>
            <a:off x="762000" y="1460500"/>
            <a:ext cx="3175000" cy="2159000"/>
          </a:xfrm>
          <a:prstGeom prst="roundRect">
            <a:avLst>
              <a:gd name="adj" fmla="val 7058"/>
            </a:avLst>
          </a:prstGeom>
          <a:noFill/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rcRect t="824" b="824"/>
          <a:stretch>
            <a:fillRect/>
          </a:stretch>
        </p:blipFill>
        <p:spPr>
          <a:xfrm>
            <a:off x="4191000" y="1460500"/>
            <a:ext cx="3175000" cy="2159000"/>
          </a:xfrm>
          <a:prstGeom prst="roundRect">
            <a:avLst>
              <a:gd name="adj" fmla="val 7058"/>
            </a:avLst>
          </a:prstGeom>
          <a:noFill/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747000" y="1460500"/>
            <a:ext cx="3683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874000" y="1587500"/>
            <a:ext cx="3429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战术分工的底层逻辑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通过预设机器人的基础行为模式，构建“防守-中场-进攻”的立体战术体系。每个角色各司其职，确保在动态对抗中保持阵型稳定，实现攻防的无缝衔接。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762000" y="39370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89000" y="4038600"/>
            <a:ext cx="5016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01 守门员 | baseRobots[1]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防线的最后屏障，基于视觉反馈动态封堵射门角度，专注于球门前的绝对防守，通过位移算法预判轨迹并快速响应。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159500" y="39370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286500" y="4038600"/>
            <a:ext cx="5016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00 主攻手 | baseRobots[0]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前场进攻核心单元，负责高速追球、突破拦截与临门射门。具备最高的运动优先级，是战术执行中主要的火力输出点。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52705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89000" y="5372100"/>
            <a:ext cx="5016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02/03 中场策应 | baseRobots[2], [3]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攻防转换的枢纽，兼顾边路突袭与中路支援。为前锋输送传球路线，同时在防守阶段协助拦截反击，保持阵型宽度。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159500" y="52705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286500" y="5372100"/>
            <a:ext cx="5016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04 后场屏障 | baseRobots[4]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固定于中线(x=55)区域的自由人，负责拦截对方传球、补位防守漏洞，构建中场的第一道拦截线，减轻后防压力。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核心策略逻辑剖析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213" r="213"/>
          <a:stretch>
            <a:fillRect/>
          </a:stretch>
        </p:blipFill>
        <p:spPr>
          <a:xfrm>
            <a:off x="762000" y="1651000"/>
            <a:ext cx="3556000" cy="2413000"/>
          </a:xfrm>
          <a:prstGeom prst="rect">
            <a:avLst/>
          </a:prstGeom>
          <a:noFill/>
          <a:ln w="25400" cap="flat" cmpd="sng">
            <a:solidFill>
              <a:srgbClr val="34D399">
                <a:alpha val="4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41910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基于视觉识别与动态决策模型，机器人可精准执行从复杂绕球到暴力抽射的多元化战术动作，实现毫秒级的策略切换。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826000" y="1651000"/>
            <a:ext cx="660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⚡ 动态切换的5大进攻策略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826000" y="2286000"/>
            <a:ext cx="3238500" cy="1206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953000" y="2387600"/>
            <a:ext cx="2984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01 复杂C字绕球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执行高难度C形机动扰乱防守，利用轨迹变化创造射门空隙，适合破解密集防守。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8191500" y="2286000"/>
            <a:ext cx="3238500" cy="1206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8318500" y="2387600"/>
            <a:ext cx="2984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02 暴力定点抽射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舍弃假动作，全速突进后以最大动力完成大力射门，以绝对速度压制门将反应。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826000" y="3683000"/>
            <a:ext cx="3238500" cy="1206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953000" y="3784600"/>
            <a:ext cx="2984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03-04 双人佯攻配合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双机联动战术，一机边路牵制吸引防守注意力，另一机趁机切入禁区完成射门。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191500" y="3683000"/>
            <a:ext cx="3238500" cy="1206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318500" y="3784600"/>
            <a:ext cx="2984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05 极速简易C字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精简版绕球动作，缩短机动时间，以更快的衔接速度完成摆脱与突袭射门。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62000" y="5207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762000" y="5207000"/>
            <a:ext cx="76200" cy="11430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016000" y="5334000"/>
            <a:ext cx="1028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🛡️ 智能联防防守机制：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当对手执行点球时，4名防守机器人迅速在禁区外围构建密集屏障封锁线路；守门员通过实时视觉预测模型分析球路轨迹，动态调整扑救方位与时机，结合概率算法大幅提升防守成功率。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核心策略逻辑剖析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032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2032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门球策略 · 多维进攻选择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59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7940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▶ 进攻战术矩阵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175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①</a:t>
            </a:r>
            <a:r>
              <a:rPr lang="en-US" sz="14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造犯规：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多机协同前压，压迫对手制造防守犯规，创造前场定位球机会。</a:t>
            </a:r>
            <a:b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②</a:t>
            </a:r>
            <a:r>
              <a:rPr lang="en-US" sz="14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常规组织：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门将精准分发至中场，衔接地面传导发起阵地战。</a:t>
            </a:r>
            <a:b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③</a:t>
            </a:r>
            <a:r>
              <a:rPr lang="en-US" sz="14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直接轰门：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门将蓄力大力抽射，瞄准死角尝试直接破门得分。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4450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▶ 防守应急机制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826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门球发出后全员快速落位，在禁区弧顶构建“人墙+补位”双层防线，封堵对手直接射门路线，彻底切断其二次进攻与反造犯规的战术企图。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1778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032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921500" y="2032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开球策略 · 经典战术套路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291">
            <a:off x="6477009" y="259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477000" y="27940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▶ 经典配合：回传远射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3175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执行“</a:t>
            </a:r>
            <a:r>
              <a:rPr lang="en-US" sz="14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0号开球 → 3号回撤接应 → 弧顶远射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”的高效战术链。利用对手开球后防线尚未完全落位的窗口期，快速完成射门动作，打其立足未稳，最大化进攻突然性。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44450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▶ 防守快速落位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4826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开球瞬间所有防守单元全速回撤，在禁区前沿与肋部形成密集的“区域联防”阵型，有效封锁对手的快速反击通道，避免被对手打反击偷袭。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9690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34D399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89000" y="60706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💡 策略核心：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以快制快，攻守同步切换，通过预设战术模板实现毫秒级的赛场决策响应。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核心策略逻辑剖析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87500"/>
            <a:ext cx="1066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系统摒弃了单一固化的执行模式，内置轻量化决策树模型，能够根据实时的比赛反馈与场上局势，对战术策略进行毫秒级的动态调整与迭代，实现从“执行指令”到“自主应变”的跨越。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5270500" cy="3048000"/>
          </a:xfrm>
          <a:prstGeom prst="roundRect">
            <a:avLst>
              <a:gd name="adj" fmla="val 0"/>
            </a:avLst>
          </a:prstGeom>
          <a:solidFill>
            <a:srgbClr val="34D399">
              <a:alpha val="12000"/>
            </a:srgbClr>
          </a:solidFill>
          <a:ln w="12700" cap="flat" cmpd="sng">
            <a:solidFill>
              <a:srgbClr val="34D399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921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895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点球策略自适应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167">
            <a:off x="1016008" y="3422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D399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619500"/>
            <a:ext cx="4762500" cy="196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4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失败触发：</a:t>
            </a: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单次进攻失利后，</a:t>
            </a:r>
            <a:r>
              <a:rPr lang="en-US" sz="1400" b="0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flag_penalty</a:t>
            </a: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标志位即刻激活，标记当前策略失效。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4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自动轮询：</a:t>
            </a: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下一次机会触发</a:t>
            </a:r>
            <a:r>
              <a:rPr lang="en-US" sz="1400" b="0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penalty = penalty + 1</a:t>
            </a: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，无缝切换至下一套预设方案。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4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效果：</a:t>
            </a: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通过动态试错机制，快速筛选出针对当前对手的最优破门路径，最大化得分概率。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159500" y="2667000"/>
            <a:ext cx="5270500" cy="3048000"/>
          </a:xfrm>
          <a:prstGeom prst="roundRect">
            <a:avLst>
              <a:gd name="adj" fmla="val 0"/>
            </a:avLst>
          </a:prstGeom>
          <a:solidFill>
            <a:srgbClr val="34D399">
              <a:alpha val="12000"/>
            </a:srgbClr>
          </a:solidFill>
          <a:ln w="12700" cap="flat" cmpd="sng">
            <a:solidFill>
              <a:srgbClr val="34D399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2921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858000" y="2895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门球策略自适应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167">
            <a:off x="6413508" y="3422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D399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413500" y="3619500"/>
            <a:ext cx="4762500" cy="196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4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战术止损：</a:t>
            </a: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若“造犯规”连续未奏效，系统自动回退至稳健的“常规开球”策略。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4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智能反制：</a:t>
            </a: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识别对手“造犯规”意图时，立即切换至</a:t>
            </a:r>
            <a:r>
              <a:rPr lang="en-US" sz="1400" b="0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guard_goal = 2</a:t>
            </a: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针对性防守模式。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4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效果：</a:t>
            </a: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构建攻防博弈的动态平衡，避免陷入被动节奏，牢牢把控比赛主动权。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62000" y="59690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952500" y="60706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FAE5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核心价值：这种基于反馈的闭环决策机制，赋予了AI“经验学习”的雏形，让战术体系在实战中实现自我进化与完善。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项目亮点与未来展望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5200" y="19812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71600" y="19558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01 模块化分层架构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65200" y="2438400"/>
            <a:ext cx="2971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构建数据模型、全局配置、基础控制、上层策略四层架构，实现逻辑解耦，降低维护成本，为功能快速迭代与灵活扩展提供坚实基础。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94200" y="17780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97400" y="19812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003800" y="19558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02 前瞻式预测模型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97400" y="2438400"/>
            <a:ext cx="2971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独创 PredictRobotInformation 机制，有效补偿系统延迟，让机器人动作具备超前预判性，大幅提升运动响应的精准度与赛场同步性。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26400" y="17780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29600" y="19812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636000" y="19558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03 全场景策略覆盖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29600" y="2438400"/>
            <a:ext cx="2971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策略库覆盖常规攻防、点球、门球及开球等全比赛场景，针对不同赛况定制专属应对方案，灵活适配赛场瞬息万变的突发状况。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27500"/>
            <a:ext cx="53086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5200" y="43307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371600" y="43053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04 自适应决策进化系统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65200" y="4787900"/>
            <a:ext cx="4902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内置动态决策树核心机制，基于赛场实时反馈自主调整策略权重，摆脱固定指令集束缚，具备初步的自主学习与进化能力，让机器人在对抗中实现策略的动态优化与迭代。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324600" y="4127500"/>
            <a:ext cx="53086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27800" y="43307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34200" y="43053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05 精准PID运动控制算法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527800" y="4787900"/>
            <a:ext cx="4902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经实战深度调优的PID控制算法，结合高精度运动学模型，消除运动抖动，实现移动与转向的极致平滑，达成毫米级定位精度，整体运动响应速度提升超30%。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项目亮点与未来展望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未来优化与展望 (1/2)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5334000" cy="1968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23114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01 / 引入强化学习 (RL)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7305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目标：摆脱人工规则的局限性，让AI通过自我对弈与环境交互，自主进化出超越人类经验的策略。</a:t>
            </a:r>
            <a:b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路径：构建“状态(球场信息)-动作(决策指令)-奖励(得分/控球率)”的闭环模型，替代传统硬编码逻辑。</a:t>
            </a:r>
            <a:b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价值：挖掘出极具创新性的进攻与防守战术，突破现有竞技水平的天花板。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4318000"/>
            <a:ext cx="5334000" cy="1968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52500" y="44704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02 / 策略参数智能调优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48895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目标：自动化解决PID参数、预测模型系数及策略阈值的人工调参难题，提升系统鲁棒性。</a:t>
            </a:r>
            <a:b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路径：引入遗传算法或粒子群优化，在高保真仿真环境中进行海量模拟对抗，快速收敛至全局最优。</a:t>
            </a:r>
            <a:b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价值：实现机器人运动控制的毫秒级响应优化，大幅提升传球精度与运动稳定性。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 l="6656" r="6656"/>
          <a:stretch>
            <a:fillRect/>
          </a:stretch>
        </p:blipFill>
        <p:spPr>
          <a:xfrm>
            <a:off x="6477000" y="2159000"/>
            <a:ext cx="5080000" cy="1905000"/>
          </a:xfrm>
          <a:prstGeom prst="rect">
            <a:avLst/>
          </a:prstGeom>
          <a:noFill/>
          <a:ln w="25400" cap="flat" cmpd="sng">
            <a:solidFill>
              <a:srgbClr val="34D399">
                <a:alpha val="50000"/>
              </a:srgbClr>
            </a:solidFill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6477000" y="4318000"/>
            <a:ext cx="5080000" cy="19685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667500" y="4470400"/>
            <a:ext cx="4699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▍ 智能进化核心机制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667500" y="4851400"/>
            <a:ext cx="4699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如原理图所示，智能体(Agent)通过不断感知环境状态(State)并执行动作(Action)，获得环境反馈的即时奖励(Reward)。这一闭环过程使AI能在没有人类干预的情况下，自主探索并强化获胜策略，是实现从“程序控制”到“智能决策”跨越的核心驱动力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项目亮点与未来展望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231" b="231"/>
          <a:stretch>
            <a:fillRect/>
          </a:stretch>
        </p:blipFill>
        <p:spPr>
          <a:xfrm>
            <a:off x="762000" y="1778000"/>
            <a:ext cx="4572000" cy="2540000"/>
          </a:xfrm>
          <a:prstGeom prst="rect">
            <a:avLst/>
          </a:prstGeom>
          <a:noFill/>
          <a:ln w="25400" cap="flat" cmpd="sng">
            <a:solidFill>
              <a:srgbClr val="34D399">
                <a:alpha val="6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4635500"/>
            <a:ext cx="457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多智能体协同与动态策略对抗的深度融合，我们致力于构建一个具备群体智能的自适应竞技系统。这不仅能实现机器人之间的默契配合，更能让AI像人类棋手一样，根据对手的风格实时调整战术，为赛事注入无限可能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715000" y="1778000"/>
            <a:ext cx="5842000" cy="19685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12700" cap="flat" cmpd="sng">
            <a:solidFill>
              <a:srgbClr val="34D399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69000" y="2032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540500" y="2032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多智能体协作强化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969000" y="2603500"/>
            <a:ext cx="533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利用多智能体强化学习（MARL）技术，打破单一机器人的决策孤岛。让机器人学会沟通、配合与战术执行，实现如“二过一”、动态传跑等复杂的团队竞技战术，提升整体协同作战能力。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715000" y="4191000"/>
            <a:ext cx="5842000" cy="19685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12700" cap="flat" cmpd="sng">
            <a:solidFill>
              <a:srgbClr val="34D399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69000" y="4445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540500" y="4445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对手建模与策略对抗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969000" y="5016500"/>
            <a:ext cx="533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建立实时对手行为分析模块，精准识别对手的攻防倾向与战术模式。系统将动态调用策略库，针对性地调整我方阵型与打法，实现从被动应对到主动克制的策略博弈，大幅增强赛事的对抗性与观赏性。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94593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445000" y="2794000"/>
            <a:ext cx="698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0" y="353410"/>
            <a:ext cx="12192000" cy="45995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600" b="1" i="0" u="none" strike="noStrike" dirty="0" err="1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2800" dirty="0"/>
          </a:p>
        </p:txBody>
      </p:sp>
      <p:sp>
        <p:nvSpPr>
          <p:cNvPr id="5" name="AutoShape 5"/>
          <p:cNvSpPr/>
          <p:nvPr/>
        </p:nvSpPr>
        <p:spPr>
          <a:xfrm>
            <a:off x="1016000" y="5143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508000" y="6159500"/>
            <a:ext cx="1016000" cy="38100"/>
          </a:xfrm>
          <a:prstGeom prst="roundRect">
            <a:avLst>
              <a:gd name="adj" fmla="val 0"/>
            </a:avLst>
          </a:prstGeom>
          <a:solidFill>
            <a:srgbClr val="34D399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668000" y="6159500"/>
            <a:ext cx="1016000" cy="38100"/>
          </a:xfrm>
          <a:prstGeom prst="roundRect">
            <a:avLst>
              <a:gd name="adj" fmla="val 0"/>
            </a:avLst>
          </a:prstGeom>
          <a:solidFill>
            <a:srgbClr val="34D399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1408</Words>
  <Application>Microsoft Office PowerPoint</Application>
  <PresentationFormat>宽屏</PresentationFormat>
  <Paragraphs>191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3" baseType="lpstr">
      <vt:lpstr>Noto Sans SC</vt:lpstr>
      <vt:lpstr>Arial</vt:lpstr>
      <vt:lpstr>Consolas</vt:lpstr>
      <vt:lpstr>Source Code Pro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佳宁 郭</cp:lastModifiedBy>
  <cp:revision>1</cp:revision>
  <dcterms:modified xsi:type="dcterms:W3CDTF">2026-07-09T16:07:17Z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{"Label":"1","ContentProducer":"001191110102MACQD9K64010000","ProduceID":"7660559324956495095","ReservedCode1":"","ContentPropagator":"","PropagateID":"","ReservedCode2":""}</vt:lpwstr>
  </property>
</Properties>
</file>